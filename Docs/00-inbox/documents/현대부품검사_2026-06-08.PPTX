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59" r:id="rId6"/>
    <p:sldId id="266" r:id="rId7"/>
    <p:sldId id="267" r:id="rId8"/>
    <p:sldId id="268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28BF2-5CB4-41C0-A39D-CE50CE5E5D1B}" type="datetimeFigureOut">
              <a:rPr lang="ko-KR" altLang="en-US" smtClean="0"/>
              <a:t>2026-06-08(Mon)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0FFEB-0B8E-4677-8AF7-ECC4607BD9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0696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2;p2"/>
          <p:cNvSpPr/>
          <p:nvPr userDrawn="1"/>
        </p:nvSpPr>
        <p:spPr>
          <a:xfrm>
            <a:off x="0" y="-4257"/>
            <a:ext cx="12192000" cy="396143"/>
          </a:xfrm>
          <a:prstGeom prst="rect">
            <a:avLst/>
          </a:prstGeom>
          <a:solidFill>
            <a:srgbClr val="D8D8D8"/>
          </a:solidFill>
          <a:ln w="1270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" name="Google Shape;13;p2"/>
          <p:cNvSpPr/>
          <p:nvPr userDrawn="1"/>
        </p:nvSpPr>
        <p:spPr>
          <a:xfrm>
            <a:off x="0" y="0"/>
            <a:ext cx="9296400" cy="6858000"/>
          </a:xfrm>
          <a:prstGeom prst="rect">
            <a:avLst/>
          </a:prstGeom>
          <a:noFill/>
          <a:ln w="1270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" name="Google Shape;14;p2"/>
          <p:cNvSpPr/>
          <p:nvPr userDrawn="1"/>
        </p:nvSpPr>
        <p:spPr>
          <a:xfrm>
            <a:off x="9296400" y="0"/>
            <a:ext cx="2895600" cy="6858000"/>
          </a:xfrm>
          <a:prstGeom prst="rect">
            <a:avLst/>
          </a:prstGeom>
          <a:noFill/>
          <a:ln w="1270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403091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28BF2-5CB4-41C0-A39D-CE50CE5E5D1B}" type="datetimeFigureOut">
              <a:rPr lang="ko-KR" altLang="en-US" smtClean="0"/>
              <a:t>2026-06-08(Mon)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0FFEB-0B8E-4677-8AF7-ECC4607BD9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4608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28BF2-5CB4-41C0-A39D-CE50CE5E5D1B}" type="datetimeFigureOut">
              <a:rPr lang="ko-KR" altLang="en-US" smtClean="0"/>
              <a:t>2026-06-08(Mon)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0FFEB-0B8E-4677-8AF7-ECC4607BD9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1380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28BF2-5CB4-41C0-A39D-CE50CE5E5D1B}" type="datetimeFigureOut">
              <a:rPr lang="ko-KR" altLang="en-US" smtClean="0"/>
              <a:t>2026-06-08(Mon)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0FFEB-0B8E-4677-8AF7-ECC4607BD9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271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28BF2-5CB4-41C0-A39D-CE50CE5E5D1B}" type="datetimeFigureOut">
              <a:rPr lang="ko-KR" altLang="en-US" smtClean="0"/>
              <a:t>2026-06-08(Mon)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0FFEB-0B8E-4677-8AF7-ECC4607BD9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6395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28BF2-5CB4-41C0-A39D-CE50CE5E5D1B}" type="datetimeFigureOut">
              <a:rPr lang="ko-KR" altLang="en-US" smtClean="0"/>
              <a:t>2026-06-08(Mon)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0FFEB-0B8E-4677-8AF7-ECC4607BD9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4465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28BF2-5CB4-41C0-A39D-CE50CE5E5D1B}" type="datetimeFigureOut">
              <a:rPr lang="ko-KR" altLang="en-US" smtClean="0"/>
              <a:t>2026-06-08(Mon)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0FFEB-0B8E-4677-8AF7-ECC4607BD9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5197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28BF2-5CB4-41C0-A39D-CE50CE5E5D1B}" type="datetimeFigureOut">
              <a:rPr lang="ko-KR" altLang="en-US" smtClean="0"/>
              <a:t>2026-06-08(Mon)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0FFEB-0B8E-4677-8AF7-ECC4607BD9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2200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28BF2-5CB4-41C0-A39D-CE50CE5E5D1B}" type="datetimeFigureOut">
              <a:rPr lang="ko-KR" altLang="en-US" smtClean="0"/>
              <a:t>2026-06-08(Mon)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0FFEB-0B8E-4677-8AF7-ECC4607BD9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7480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28BF2-5CB4-41C0-A39D-CE50CE5E5D1B}" type="datetimeFigureOut">
              <a:rPr lang="ko-KR" altLang="en-US" smtClean="0"/>
              <a:t>2026-06-08(Mon)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0FFEB-0B8E-4677-8AF7-ECC4607BD9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2357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28BF2-5CB4-41C0-A39D-CE50CE5E5D1B}" type="datetimeFigureOut">
              <a:rPr lang="ko-KR" altLang="en-US" smtClean="0"/>
              <a:t>2026-06-08(Mon)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70FFEB-0B8E-4677-8AF7-ECC4607BD9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8145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17" y="1045730"/>
            <a:ext cx="9062476" cy="4746336"/>
          </a:xfrm>
          <a:prstGeom prst="rect">
            <a:avLst/>
          </a:prstGeom>
        </p:spPr>
      </p:pic>
      <p:sp>
        <p:nvSpPr>
          <p:cNvPr id="7" name="Google Shape;20;p3"/>
          <p:cNvSpPr txBox="1"/>
          <p:nvPr/>
        </p:nvSpPr>
        <p:spPr>
          <a:xfrm>
            <a:off x="9348563" y="436267"/>
            <a:ext cx="2811717" cy="6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</a:pP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A. 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검사 화면</a:t>
            </a:r>
            <a:endParaRPr lang="en-US" altLang="ko-KR" sz="10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171450">
              <a:lnSpc>
                <a:spcPct val="130000"/>
              </a:lnSpc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[A-1] 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기준 이미지 저장 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</a:t>
            </a:r>
            <a:b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선정한 정보의 대상 이미지가 없는 경우 저장을 할 수 있다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</a:p>
          <a:p>
            <a:pPr marL="171450" lvl="0" indent="-171450">
              <a:lnSpc>
                <a:spcPct val="130000"/>
              </a:lnSpc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[A-2] 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검사 시작 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</a:t>
            </a:r>
            <a:b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검사 시작 한다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</a:p>
          <a:p>
            <a:pPr marL="171450" lvl="0" indent="-171450">
              <a:lnSpc>
                <a:spcPct val="130000"/>
              </a:lnSpc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카메라 화면 갱신 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&amp; 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자동갱신 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</a:t>
            </a:r>
            <a:b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(Test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 위한 기능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삭제 예정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</a:p>
          <a:p>
            <a:pPr lvl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</a:pPr>
            <a:endParaRPr lang="en-US" altLang="ko-KR" sz="10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lvl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</a:pP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B. Search DB</a:t>
            </a:r>
          </a:p>
          <a:p>
            <a:pPr marL="171450" indent="-171450">
              <a:lnSpc>
                <a:spcPct val="130000"/>
              </a:lnSpc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[B-1] DB Search : </a:t>
            </a:r>
            <a:b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키보드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&amp;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바코드를 리드하여 검사 대상 선정</a:t>
            </a:r>
            <a:endParaRPr lang="en-US" altLang="ko-KR" sz="10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171450">
              <a:lnSpc>
                <a:spcPct val="130000"/>
              </a:lnSpc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[B-2] Part Information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</a:t>
            </a:r>
            <a:b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선정된 제품의 품번 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 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품명 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 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분류코드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 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분류설명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 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구분 정보</a:t>
            </a:r>
            <a:endParaRPr lang="en-US" altLang="ko-KR" sz="10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171450">
              <a:lnSpc>
                <a:spcPct val="130000"/>
              </a:lnSpc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[B-3] </a:t>
            </a:r>
            <a:r>
              <a:rPr lang="ko-KR" altLang="en-US" sz="10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측정부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길이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 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너비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 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높이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 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두께 정보</a:t>
            </a:r>
            <a:endParaRPr lang="en-US" altLang="ko-KR" sz="10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171450">
              <a:lnSpc>
                <a:spcPct val="130000"/>
              </a:lnSpc>
              <a:buClr>
                <a:schemeClr val="dk1"/>
              </a:buClr>
              <a:buFont typeface="Arial" panose="020B0604020202020204" pitchFamily="34" charset="0"/>
              <a:buChar char="•"/>
            </a:pPr>
            <a:endParaRPr lang="en-US" altLang="ko-KR" sz="10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lvl="0">
              <a:lnSpc>
                <a:spcPct val="130000"/>
              </a:lnSpc>
              <a:buClr>
                <a:schemeClr val="dk1"/>
              </a:buClr>
            </a:pP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C. Event</a:t>
            </a:r>
          </a:p>
          <a:p>
            <a:pPr lvl="0">
              <a:lnSpc>
                <a:spcPct val="130000"/>
              </a:lnSpc>
              <a:buClr>
                <a:schemeClr val="dk1"/>
              </a:buClr>
            </a:pP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간단한 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Event Log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와 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Error Log</a:t>
            </a:r>
          </a:p>
          <a:p>
            <a:pPr marL="171450" lvl="0" indent="-171450">
              <a:lnSpc>
                <a:spcPct val="130000"/>
              </a:lnSpc>
              <a:buClr>
                <a:schemeClr val="dk1"/>
              </a:buClr>
              <a:buFontTx/>
              <a:buChar char="-"/>
            </a:pPr>
            <a:endParaRPr lang="en-US" altLang="ko-KR" sz="10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171450">
              <a:lnSpc>
                <a:spcPct val="130000"/>
              </a:lnSpc>
              <a:buClr>
                <a:schemeClr val="dk1"/>
              </a:buClr>
              <a:buFontTx/>
              <a:buChar char="-"/>
            </a:pPr>
            <a:endParaRPr lang="en-US" altLang="ko-KR" sz="10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171450">
              <a:lnSpc>
                <a:spcPct val="130000"/>
              </a:lnSpc>
              <a:buClr>
                <a:schemeClr val="dk1"/>
              </a:buClr>
              <a:buFontTx/>
              <a:buChar char="-"/>
            </a:pPr>
            <a:endParaRPr lang="en-US" altLang="ko-KR" sz="10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" name="Google Shape;25;p3"/>
          <p:cNvSpPr txBox="1"/>
          <p:nvPr/>
        </p:nvSpPr>
        <p:spPr>
          <a:xfrm>
            <a:off x="100646" y="65050"/>
            <a:ext cx="1314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</a:t>
            </a:r>
            <a:endParaRPr sz="1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" name="Google Shape;26;p3"/>
          <p:cNvSpPr txBox="1"/>
          <p:nvPr/>
        </p:nvSpPr>
        <p:spPr>
          <a:xfrm>
            <a:off x="9348563" y="65050"/>
            <a:ext cx="1220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상세 설명</a:t>
            </a:r>
            <a:endParaRPr sz="1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" name="Google Shape;21;p3"/>
          <p:cNvSpPr/>
          <p:nvPr/>
        </p:nvSpPr>
        <p:spPr>
          <a:xfrm>
            <a:off x="1332483" y="1303067"/>
            <a:ext cx="341700" cy="160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0" i="0" u="none" strike="noStrike" cap="none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</a:t>
            </a:r>
            <a:endParaRPr sz="900" b="0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" name="Google Shape;21;p3"/>
          <p:cNvSpPr/>
          <p:nvPr/>
        </p:nvSpPr>
        <p:spPr>
          <a:xfrm>
            <a:off x="-190221" y="1303067"/>
            <a:ext cx="341700" cy="1608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B-1</a:t>
            </a:r>
            <a:endParaRPr sz="900" b="0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" name="Google Shape;21;p3"/>
          <p:cNvSpPr/>
          <p:nvPr/>
        </p:nvSpPr>
        <p:spPr>
          <a:xfrm>
            <a:off x="1820652" y="1783254"/>
            <a:ext cx="341700" cy="160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A-1</a:t>
            </a:r>
            <a:endParaRPr sz="900" b="0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" name="Google Shape;21;p3">
            <a:extLst>
              <a:ext uri="{FF2B5EF4-FFF2-40B4-BE49-F238E27FC236}">
                <a16:creationId xmlns:a16="http://schemas.microsoft.com/office/drawing/2014/main" id="{394FB081-6F0A-46C2-814C-6F173FEF86BF}"/>
              </a:ext>
            </a:extLst>
          </p:cNvPr>
          <p:cNvSpPr/>
          <p:nvPr/>
        </p:nvSpPr>
        <p:spPr>
          <a:xfrm>
            <a:off x="2548786" y="1783254"/>
            <a:ext cx="341700" cy="160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A-2</a:t>
            </a:r>
            <a:endParaRPr sz="900" b="0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" name="Google Shape;21;p3">
            <a:extLst>
              <a:ext uri="{FF2B5EF4-FFF2-40B4-BE49-F238E27FC236}">
                <a16:creationId xmlns:a16="http://schemas.microsoft.com/office/drawing/2014/main" id="{78F6D686-7D7E-4A7B-8A88-5B6B89B3FDA3}"/>
              </a:ext>
            </a:extLst>
          </p:cNvPr>
          <p:cNvSpPr/>
          <p:nvPr/>
        </p:nvSpPr>
        <p:spPr>
          <a:xfrm>
            <a:off x="689016" y="1303067"/>
            <a:ext cx="341700" cy="1608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</a:t>
            </a:r>
            <a:endParaRPr sz="900" b="0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" name="Google Shape;21;p3">
            <a:extLst>
              <a:ext uri="{FF2B5EF4-FFF2-40B4-BE49-F238E27FC236}">
                <a16:creationId xmlns:a16="http://schemas.microsoft.com/office/drawing/2014/main" id="{91315692-23A8-4616-80EE-A75F0FD0A44E}"/>
              </a:ext>
            </a:extLst>
          </p:cNvPr>
          <p:cNvSpPr/>
          <p:nvPr/>
        </p:nvSpPr>
        <p:spPr>
          <a:xfrm>
            <a:off x="-190221" y="1843508"/>
            <a:ext cx="341700" cy="1608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B-2</a:t>
            </a:r>
            <a:endParaRPr sz="900" b="0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" name="Google Shape;21;p3">
            <a:extLst>
              <a:ext uri="{FF2B5EF4-FFF2-40B4-BE49-F238E27FC236}">
                <a16:creationId xmlns:a16="http://schemas.microsoft.com/office/drawing/2014/main" id="{90FEE352-FB58-4E13-B7F4-BAD9E6CA8C81}"/>
              </a:ext>
            </a:extLst>
          </p:cNvPr>
          <p:cNvSpPr/>
          <p:nvPr/>
        </p:nvSpPr>
        <p:spPr>
          <a:xfrm>
            <a:off x="-188038" y="2763704"/>
            <a:ext cx="341700" cy="1608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B-3</a:t>
            </a:r>
          </a:p>
        </p:txBody>
      </p:sp>
      <p:sp>
        <p:nvSpPr>
          <p:cNvPr id="22" name="Google Shape;21;p3">
            <a:extLst>
              <a:ext uri="{FF2B5EF4-FFF2-40B4-BE49-F238E27FC236}">
                <a16:creationId xmlns:a16="http://schemas.microsoft.com/office/drawing/2014/main" id="{F56504FA-74AD-41AE-A0E2-8A0B1416E957}"/>
              </a:ext>
            </a:extLst>
          </p:cNvPr>
          <p:cNvSpPr/>
          <p:nvPr/>
        </p:nvSpPr>
        <p:spPr>
          <a:xfrm>
            <a:off x="-190221" y="3628284"/>
            <a:ext cx="341700" cy="1608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</a:t>
            </a:r>
            <a:endParaRPr sz="900" b="0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826937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25;p3"/>
          <p:cNvSpPr txBox="1"/>
          <p:nvPr/>
        </p:nvSpPr>
        <p:spPr>
          <a:xfrm>
            <a:off x="100646" y="65050"/>
            <a:ext cx="1314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</a:t>
            </a:r>
            <a:endParaRPr sz="1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750" y="1208417"/>
            <a:ext cx="9045807" cy="4744800"/>
          </a:xfrm>
          <a:prstGeom prst="rect">
            <a:avLst/>
          </a:prstGeom>
        </p:spPr>
      </p:pic>
      <p:sp>
        <p:nvSpPr>
          <p:cNvPr id="14" name="Google Shape;20;p3"/>
          <p:cNvSpPr txBox="1"/>
          <p:nvPr/>
        </p:nvSpPr>
        <p:spPr>
          <a:xfrm>
            <a:off x="9348563" y="487067"/>
            <a:ext cx="2811717" cy="6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130000"/>
              </a:lnSpc>
              <a:buClr>
                <a:schemeClr val="dk1"/>
              </a:buClr>
            </a:pP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A. DB 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조회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 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확인</a:t>
            </a:r>
            <a:endParaRPr lang="en-US" altLang="ko-KR" sz="10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171450">
              <a:lnSpc>
                <a:spcPct val="130000"/>
              </a:lnSpc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[A-1] DB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조회 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</a:t>
            </a:r>
            <a:b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품번 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 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품명 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 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분류코드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 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분류설명 조건으로</a:t>
            </a:r>
            <a:b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DB 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항목을 조회하는 기능</a:t>
            </a:r>
            <a:b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키워드 작성시 추천 키워드 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개를 초록색으로 볼 수 있다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.)</a:t>
            </a:r>
          </a:p>
          <a:p>
            <a:pPr marL="171450" lvl="0" indent="-171450">
              <a:lnSpc>
                <a:spcPct val="130000"/>
              </a:lnSpc>
              <a:buClr>
                <a:schemeClr val="dk1"/>
              </a:buClr>
              <a:buFont typeface="Arial" panose="020B0604020202020204" pitchFamily="34" charset="0"/>
              <a:buChar char="•"/>
            </a:pPr>
            <a:endParaRPr lang="en-US" altLang="ko-KR" sz="10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171450">
              <a:lnSpc>
                <a:spcPct val="130000"/>
              </a:lnSpc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[A-2] DB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확인 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</a:t>
            </a:r>
            <a:b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선택한 품목의 상세 기준 값과 이미지 등록 여부를 확인 할 수 있다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b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등록된 이미지는 하단 미리보기로 볼 수 있다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.)</a:t>
            </a:r>
          </a:p>
        </p:txBody>
      </p:sp>
      <p:sp>
        <p:nvSpPr>
          <p:cNvPr id="15" name="Google Shape;26;p3"/>
          <p:cNvSpPr txBox="1"/>
          <p:nvPr/>
        </p:nvSpPr>
        <p:spPr>
          <a:xfrm>
            <a:off x="9348563" y="65050"/>
            <a:ext cx="1220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상세 설명</a:t>
            </a:r>
            <a:endParaRPr sz="1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" name="Google Shape;21;p3"/>
          <p:cNvSpPr/>
          <p:nvPr/>
        </p:nvSpPr>
        <p:spPr>
          <a:xfrm>
            <a:off x="1937119" y="1315276"/>
            <a:ext cx="341700" cy="160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</a:t>
            </a:r>
            <a:endParaRPr sz="900" b="0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" name="Google Shape;21;p3"/>
          <p:cNvSpPr/>
          <p:nvPr/>
        </p:nvSpPr>
        <p:spPr>
          <a:xfrm>
            <a:off x="6530012" y="1755476"/>
            <a:ext cx="341700" cy="160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A-1</a:t>
            </a:r>
            <a:endParaRPr sz="900" b="0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" name="Google Shape;21;p3">
            <a:extLst>
              <a:ext uri="{FF2B5EF4-FFF2-40B4-BE49-F238E27FC236}">
                <a16:creationId xmlns:a16="http://schemas.microsoft.com/office/drawing/2014/main" id="{9743661A-B03E-4267-A61F-01A4F142E716}"/>
              </a:ext>
            </a:extLst>
          </p:cNvPr>
          <p:cNvSpPr/>
          <p:nvPr/>
        </p:nvSpPr>
        <p:spPr>
          <a:xfrm>
            <a:off x="2278819" y="2077210"/>
            <a:ext cx="341700" cy="160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A-2</a:t>
            </a:r>
            <a:endParaRPr sz="900" b="0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53177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45" y="1208417"/>
            <a:ext cx="9054817" cy="4744800"/>
          </a:xfrm>
          <a:prstGeom prst="rect">
            <a:avLst/>
          </a:prstGeom>
        </p:spPr>
      </p:pic>
      <p:sp>
        <p:nvSpPr>
          <p:cNvPr id="12" name="Google Shape;25;p3"/>
          <p:cNvSpPr txBox="1"/>
          <p:nvPr/>
        </p:nvSpPr>
        <p:spPr>
          <a:xfrm>
            <a:off x="100646" y="65050"/>
            <a:ext cx="1314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</a:t>
            </a:r>
            <a:endParaRPr sz="1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" name="Google Shape;20;p3"/>
          <p:cNvSpPr txBox="1"/>
          <p:nvPr/>
        </p:nvSpPr>
        <p:spPr>
          <a:xfrm>
            <a:off x="9348562" y="487067"/>
            <a:ext cx="2811717" cy="6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</a:pP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A. 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부품 등록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- 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단일 품목 등록</a:t>
            </a:r>
            <a:endParaRPr lang="en-US" altLang="ko-KR" sz="10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1714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[A-1] 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신규입력 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</a:t>
            </a:r>
            <a:b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신규 입력으로 작성 칸을 초기화 할 수 있다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</a:p>
          <a:p>
            <a:pPr marL="171450" lvl="0" indent="-1714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[A-2] DB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저장 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</a:t>
            </a:r>
            <a:b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작성한 품목 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측정 기준 값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 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이미지를 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DB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 저장 할 수 있다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</a:p>
          <a:p>
            <a:pPr marL="171450" lvl="0" indent="-1714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[A-3] 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선택한 부품정보를 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DB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에서 삭제 할 수 있다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</a:p>
          <a:p>
            <a:pPr marL="171450" lvl="0" indent="-171450">
              <a:lnSpc>
                <a:spcPct val="130000"/>
              </a:lnSpc>
              <a:buClr>
                <a:schemeClr val="dk1"/>
              </a:buClr>
              <a:buFontTx/>
              <a:buChar char="-"/>
            </a:pPr>
            <a:endParaRPr lang="en-US" altLang="ko-KR" sz="10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171450">
              <a:lnSpc>
                <a:spcPct val="130000"/>
              </a:lnSpc>
              <a:buClr>
                <a:schemeClr val="dk1"/>
              </a:buClr>
              <a:buFontTx/>
              <a:buChar char="-"/>
            </a:pPr>
            <a:endParaRPr lang="en-US" altLang="ko-KR" sz="10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" name="Google Shape;26;p3"/>
          <p:cNvSpPr txBox="1"/>
          <p:nvPr/>
        </p:nvSpPr>
        <p:spPr>
          <a:xfrm>
            <a:off x="9348563" y="65050"/>
            <a:ext cx="1220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상세 설명</a:t>
            </a:r>
            <a:endParaRPr sz="1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" name="Google Shape;21;p3"/>
          <p:cNvSpPr/>
          <p:nvPr/>
        </p:nvSpPr>
        <p:spPr>
          <a:xfrm>
            <a:off x="2454904" y="1315622"/>
            <a:ext cx="341700" cy="160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0" i="0" u="none" strike="noStrike" cap="none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</a:t>
            </a:r>
            <a:endParaRPr sz="900" b="0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" name="Google Shape;21;p3"/>
          <p:cNvSpPr/>
          <p:nvPr/>
        </p:nvSpPr>
        <p:spPr>
          <a:xfrm>
            <a:off x="1468350" y="4440078"/>
            <a:ext cx="341700" cy="160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A-1</a:t>
            </a:r>
            <a:endParaRPr sz="900" b="0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" name="Google Shape;21;p3">
            <a:extLst>
              <a:ext uri="{FF2B5EF4-FFF2-40B4-BE49-F238E27FC236}">
                <a16:creationId xmlns:a16="http://schemas.microsoft.com/office/drawing/2014/main" id="{7006CA18-2D5F-4DE4-9016-97625A1FD51D}"/>
              </a:ext>
            </a:extLst>
          </p:cNvPr>
          <p:cNvSpPr/>
          <p:nvPr/>
        </p:nvSpPr>
        <p:spPr>
          <a:xfrm>
            <a:off x="1468350" y="4643276"/>
            <a:ext cx="341700" cy="160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A-2</a:t>
            </a:r>
            <a:endParaRPr sz="900" b="0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" name="Google Shape;21;p3">
            <a:extLst>
              <a:ext uri="{FF2B5EF4-FFF2-40B4-BE49-F238E27FC236}">
                <a16:creationId xmlns:a16="http://schemas.microsoft.com/office/drawing/2014/main" id="{5ED544C1-B52A-459F-A000-F2BE232E2D42}"/>
              </a:ext>
            </a:extLst>
          </p:cNvPr>
          <p:cNvSpPr/>
          <p:nvPr/>
        </p:nvSpPr>
        <p:spPr>
          <a:xfrm>
            <a:off x="1468350" y="4853812"/>
            <a:ext cx="341700" cy="160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A-3</a:t>
            </a:r>
            <a:endParaRPr sz="900" b="0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589733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45" y="1208531"/>
            <a:ext cx="9054817" cy="4744572"/>
          </a:xfrm>
          <a:prstGeom prst="rect">
            <a:avLst/>
          </a:prstGeom>
        </p:spPr>
      </p:pic>
      <p:sp>
        <p:nvSpPr>
          <p:cNvPr id="12" name="Google Shape;25;p3"/>
          <p:cNvSpPr txBox="1"/>
          <p:nvPr/>
        </p:nvSpPr>
        <p:spPr>
          <a:xfrm>
            <a:off x="100646" y="65050"/>
            <a:ext cx="1314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</a:t>
            </a:r>
            <a:endParaRPr sz="1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" name="Google Shape;20;p3"/>
          <p:cNvSpPr txBox="1"/>
          <p:nvPr/>
        </p:nvSpPr>
        <p:spPr>
          <a:xfrm>
            <a:off x="9348562" y="487067"/>
            <a:ext cx="2811717" cy="6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</a:pP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B. 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부품 등록 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유사한 단일 품목 등록</a:t>
            </a:r>
            <a:endParaRPr lang="en-US" altLang="ko-KR" sz="10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1714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[B-1] 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물품 선택 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</a:t>
            </a:r>
            <a:b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유사한 물품을 선택 한다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</a:p>
          <a:p>
            <a:pPr marL="171450" lvl="0" indent="-1714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[B-2] Data 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수정 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</a:t>
            </a:r>
            <a:b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품번과 분류설명과 같은 정보들을 일부 수정한다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b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기준 이미지를 저장한다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</a:p>
          <a:p>
            <a:pPr marL="171450" lvl="0" indent="-1714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[B-3] DB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 물품을 등록 한다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</a:p>
          <a:p>
            <a:pPr marL="171450" lvl="0" indent="-171450">
              <a:lnSpc>
                <a:spcPct val="130000"/>
              </a:lnSpc>
              <a:buClr>
                <a:schemeClr val="dk1"/>
              </a:buClr>
              <a:buFontTx/>
              <a:buChar char="-"/>
            </a:pPr>
            <a:endParaRPr lang="en-US" altLang="ko-KR" sz="10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171450">
              <a:lnSpc>
                <a:spcPct val="130000"/>
              </a:lnSpc>
              <a:buClr>
                <a:schemeClr val="dk1"/>
              </a:buClr>
              <a:buFontTx/>
              <a:buChar char="-"/>
            </a:pPr>
            <a:endParaRPr lang="en-US" altLang="ko-KR" sz="10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" name="Google Shape;26;p3"/>
          <p:cNvSpPr txBox="1"/>
          <p:nvPr/>
        </p:nvSpPr>
        <p:spPr>
          <a:xfrm>
            <a:off x="9348563" y="65050"/>
            <a:ext cx="1220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상세 설명</a:t>
            </a:r>
            <a:endParaRPr sz="1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" name="Google Shape;21;p3"/>
          <p:cNvSpPr/>
          <p:nvPr/>
        </p:nvSpPr>
        <p:spPr>
          <a:xfrm>
            <a:off x="1379637" y="1713556"/>
            <a:ext cx="341700" cy="1608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900" b="0" i="0" u="none" strike="noStrike" cap="none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</a:t>
            </a:r>
            <a:endParaRPr sz="900" b="0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" name="Google Shape;21;p3"/>
          <p:cNvSpPr/>
          <p:nvPr/>
        </p:nvSpPr>
        <p:spPr>
          <a:xfrm>
            <a:off x="1468350" y="2387722"/>
            <a:ext cx="341700" cy="1608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B-1</a:t>
            </a:r>
            <a:endParaRPr sz="900" b="0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" name="Google Shape;21;p3">
            <a:extLst>
              <a:ext uri="{FF2B5EF4-FFF2-40B4-BE49-F238E27FC236}">
                <a16:creationId xmlns:a16="http://schemas.microsoft.com/office/drawing/2014/main" id="{7006CA18-2D5F-4DE4-9016-97625A1FD51D}"/>
              </a:ext>
            </a:extLst>
          </p:cNvPr>
          <p:cNvSpPr/>
          <p:nvPr/>
        </p:nvSpPr>
        <p:spPr>
          <a:xfrm>
            <a:off x="1519224" y="3459967"/>
            <a:ext cx="341700" cy="1608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B-2</a:t>
            </a:r>
            <a:endParaRPr sz="900" b="0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" name="Google Shape;21;p3">
            <a:extLst>
              <a:ext uri="{FF2B5EF4-FFF2-40B4-BE49-F238E27FC236}">
                <a16:creationId xmlns:a16="http://schemas.microsoft.com/office/drawing/2014/main" id="{5ED544C1-B52A-459F-A000-F2BE232E2D42}"/>
              </a:ext>
            </a:extLst>
          </p:cNvPr>
          <p:cNvSpPr/>
          <p:nvPr/>
        </p:nvSpPr>
        <p:spPr>
          <a:xfrm>
            <a:off x="1470954" y="4639158"/>
            <a:ext cx="341700" cy="1608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B-3</a:t>
            </a:r>
            <a:endParaRPr sz="900" b="0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852766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01" y="1208417"/>
            <a:ext cx="9073306" cy="4744800"/>
          </a:xfrm>
          <a:prstGeom prst="rect">
            <a:avLst/>
          </a:prstGeom>
        </p:spPr>
      </p:pic>
      <p:sp>
        <p:nvSpPr>
          <p:cNvPr id="12" name="Google Shape;25;p3"/>
          <p:cNvSpPr txBox="1"/>
          <p:nvPr/>
        </p:nvSpPr>
        <p:spPr>
          <a:xfrm>
            <a:off x="100646" y="65050"/>
            <a:ext cx="1314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</a:t>
            </a:r>
            <a:endParaRPr sz="1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" name="Google Shape;20;p3"/>
          <p:cNvSpPr txBox="1"/>
          <p:nvPr/>
        </p:nvSpPr>
        <p:spPr>
          <a:xfrm>
            <a:off x="9348563" y="487067"/>
            <a:ext cx="2811717" cy="6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130000"/>
              </a:lnSpc>
              <a:buClr>
                <a:schemeClr val="dk1"/>
              </a:buClr>
            </a:pP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C. 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부품 등록 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다중 품목 등록</a:t>
            </a:r>
            <a:endParaRPr lang="en-US" altLang="ko-KR" sz="10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171450">
              <a:lnSpc>
                <a:spcPct val="130000"/>
              </a:lnSpc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[C-1] 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전체항목 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CSV 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내보내기 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</a:t>
            </a:r>
            <a:b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현재 저장된 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DB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 정보를 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CSV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파일로 내보낸다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b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품번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품명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분류코드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분류설명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구분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</a:t>
            </a:r>
            <a:b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길이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길이허용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너비허용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높이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높이허용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</a:t>
            </a:r>
            <a:b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두께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두께허용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단위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  <a:b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endParaRPr lang="en-US" altLang="ko-KR" sz="10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171450">
              <a:lnSpc>
                <a:spcPct val="130000"/>
              </a:lnSpc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[C-2] CSV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불러오기 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</a:t>
            </a:r>
            <a:b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수정한 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CSV 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파일을 불러온다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b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endParaRPr lang="en-US" altLang="ko-KR" sz="10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171450">
              <a:lnSpc>
                <a:spcPct val="130000"/>
              </a:lnSpc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[C-3] DB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저장 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</a:t>
            </a:r>
            <a:b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불러온 정보를 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DB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 적용한다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</a:p>
        </p:txBody>
      </p:sp>
      <p:sp>
        <p:nvSpPr>
          <p:cNvPr id="15" name="Google Shape;26;p3"/>
          <p:cNvSpPr txBox="1"/>
          <p:nvPr/>
        </p:nvSpPr>
        <p:spPr>
          <a:xfrm>
            <a:off x="9348563" y="65050"/>
            <a:ext cx="1220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상세 설명</a:t>
            </a:r>
            <a:endParaRPr sz="1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" name="Google Shape;21;p3"/>
          <p:cNvSpPr/>
          <p:nvPr/>
        </p:nvSpPr>
        <p:spPr>
          <a:xfrm>
            <a:off x="2809595" y="1705616"/>
            <a:ext cx="341700" cy="1608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</a:t>
            </a:r>
            <a:endParaRPr sz="900" b="0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" name="Google Shape;21;p3">
            <a:extLst>
              <a:ext uri="{FF2B5EF4-FFF2-40B4-BE49-F238E27FC236}">
                <a16:creationId xmlns:a16="http://schemas.microsoft.com/office/drawing/2014/main" id="{FAD6A281-26E5-4F04-97AC-2C1A4944EA82}"/>
              </a:ext>
            </a:extLst>
          </p:cNvPr>
          <p:cNvSpPr/>
          <p:nvPr/>
        </p:nvSpPr>
        <p:spPr>
          <a:xfrm>
            <a:off x="2555595" y="1985017"/>
            <a:ext cx="341700" cy="1608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C-1</a:t>
            </a:r>
            <a:endParaRPr sz="900" b="0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" name="Google Shape;21;p3">
            <a:extLst>
              <a:ext uri="{FF2B5EF4-FFF2-40B4-BE49-F238E27FC236}">
                <a16:creationId xmlns:a16="http://schemas.microsoft.com/office/drawing/2014/main" id="{2190A91B-62D3-4AFF-B9E2-67F5A6425E75}"/>
              </a:ext>
            </a:extLst>
          </p:cNvPr>
          <p:cNvSpPr/>
          <p:nvPr/>
        </p:nvSpPr>
        <p:spPr>
          <a:xfrm>
            <a:off x="1482680" y="2145817"/>
            <a:ext cx="341700" cy="1608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C-2</a:t>
            </a:r>
            <a:endParaRPr sz="900" b="0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" name="Google Shape;21;p3">
            <a:extLst>
              <a:ext uri="{FF2B5EF4-FFF2-40B4-BE49-F238E27FC236}">
                <a16:creationId xmlns:a16="http://schemas.microsoft.com/office/drawing/2014/main" id="{CAB89237-BE45-43D1-B2B3-A74505622056}"/>
              </a:ext>
            </a:extLst>
          </p:cNvPr>
          <p:cNvSpPr/>
          <p:nvPr/>
        </p:nvSpPr>
        <p:spPr>
          <a:xfrm>
            <a:off x="3768680" y="2145817"/>
            <a:ext cx="341700" cy="1608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C-3</a:t>
            </a:r>
            <a:endParaRPr sz="900" b="0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617481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01" y="1208417"/>
            <a:ext cx="9073306" cy="4744799"/>
          </a:xfrm>
          <a:prstGeom prst="rect">
            <a:avLst/>
          </a:prstGeom>
        </p:spPr>
      </p:pic>
      <p:sp>
        <p:nvSpPr>
          <p:cNvPr id="12" name="Google Shape;25;p3"/>
          <p:cNvSpPr txBox="1"/>
          <p:nvPr/>
        </p:nvSpPr>
        <p:spPr>
          <a:xfrm>
            <a:off x="100646" y="65050"/>
            <a:ext cx="1314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</a:t>
            </a:r>
            <a:endParaRPr sz="1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" name="Google Shape;20;p3"/>
          <p:cNvSpPr txBox="1"/>
          <p:nvPr/>
        </p:nvSpPr>
        <p:spPr>
          <a:xfrm>
            <a:off x="9348563" y="487067"/>
            <a:ext cx="2811717" cy="6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130000"/>
              </a:lnSpc>
              <a:buClr>
                <a:schemeClr val="dk1"/>
              </a:buClr>
            </a:pP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A. 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이력 화면</a:t>
            </a:r>
            <a:endParaRPr lang="en-US" altLang="ko-KR" sz="10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171450">
              <a:lnSpc>
                <a:spcPct val="130000"/>
              </a:lnSpc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[A-1] 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검사 이력을 조회 할 수 있다</a:t>
            </a:r>
            <a:b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시간 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제품 정보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 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 정보 등으로 이력조회가 가능하다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.)</a:t>
            </a:r>
            <a:b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endParaRPr lang="en-US" altLang="ko-KR" sz="10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171450">
              <a:lnSpc>
                <a:spcPct val="130000"/>
              </a:lnSpc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[A-2] CSV 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저장 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</a:t>
            </a:r>
            <a:b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조회한 이력을 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CSV 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형태로 저장한다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b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endParaRPr lang="en-US" altLang="ko-KR" sz="10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171450">
              <a:lnSpc>
                <a:spcPct val="130000"/>
              </a:lnSpc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[A-3] 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검색 초기화 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</a:t>
            </a:r>
            <a:b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검색창을 초기화 한다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</a:p>
        </p:txBody>
      </p:sp>
      <p:sp>
        <p:nvSpPr>
          <p:cNvPr id="15" name="Google Shape;26;p3"/>
          <p:cNvSpPr txBox="1"/>
          <p:nvPr/>
        </p:nvSpPr>
        <p:spPr>
          <a:xfrm>
            <a:off x="9348563" y="65050"/>
            <a:ext cx="1220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상세 설명</a:t>
            </a:r>
            <a:endParaRPr sz="1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" name="Google Shape;21;p3"/>
          <p:cNvSpPr/>
          <p:nvPr/>
        </p:nvSpPr>
        <p:spPr>
          <a:xfrm>
            <a:off x="2828843" y="1310584"/>
            <a:ext cx="341700" cy="160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</a:t>
            </a:r>
            <a:endParaRPr sz="900" b="0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" name="Google Shape;21;p3">
            <a:extLst>
              <a:ext uri="{FF2B5EF4-FFF2-40B4-BE49-F238E27FC236}">
                <a16:creationId xmlns:a16="http://schemas.microsoft.com/office/drawing/2014/main" id="{FAD6A281-26E5-4F04-97AC-2C1A4944EA82}"/>
              </a:ext>
            </a:extLst>
          </p:cNvPr>
          <p:cNvSpPr/>
          <p:nvPr/>
        </p:nvSpPr>
        <p:spPr>
          <a:xfrm>
            <a:off x="5712980" y="1985017"/>
            <a:ext cx="341700" cy="160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A-1</a:t>
            </a:r>
            <a:endParaRPr sz="900" b="0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" name="Google Shape;21;p3">
            <a:extLst>
              <a:ext uri="{FF2B5EF4-FFF2-40B4-BE49-F238E27FC236}">
                <a16:creationId xmlns:a16="http://schemas.microsoft.com/office/drawing/2014/main" id="{2190A91B-62D3-4AFF-B9E2-67F5A6425E75}"/>
              </a:ext>
            </a:extLst>
          </p:cNvPr>
          <p:cNvSpPr/>
          <p:nvPr/>
        </p:nvSpPr>
        <p:spPr>
          <a:xfrm>
            <a:off x="1948347" y="1832483"/>
            <a:ext cx="341700" cy="160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A-2</a:t>
            </a:r>
            <a:endParaRPr sz="900" b="0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" name="Google Shape;21;p3">
            <a:extLst>
              <a:ext uri="{FF2B5EF4-FFF2-40B4-BE49-F238E27FC236}">
                <a16:creationId xmlns:a16="http://schemas.microsoft.com/office/drawing/2014/main" id="{CAB89237-BE45-43D1-B2B3-A74505622056}"/>
              </a:ext>
            </a:extLst>
          </p:cNvPr>
          <p:cNvSpPr/>
          <p:nvPr/>
        </p:nvSpPr>
        <p:spPr>
          <a:xfrm>
            <a:off x="3170543" y="1671683"/>
            <a:ext cx="341700" cy="160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A-3</a:t>
            </a:r>
            <a:endParaRPr sz="900" b="0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384560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605" y="1208417"/>
            <a:ext cx="9032097" cy="4744799"/>
          </a:xfrm>
          <a:prstGeom prst="rect">
            <a:avLst/>
          </a:prstGeom>
        </p:spPr>
      </p:pic>
      <p:sp>
        <p:nvSpPr>
          <p:cNvPr id="12" name="Google Shape;25;p3"/>
          <p:cNvSpPr txBox="1"/>
          <p:nvPr/>
        </p:nvSpPr>
        <p:spPr>
          <a:xfrm>
            <a:off x="100646" y="65050"/>
            <a:ext cx="1314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</a:t>
            </a:r>
            <a:endParaRPr sz="1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" name="Google Shape;20;p3"/>
          <p:cNvSpPr txBox="1"/>
          <p:nvPr/>
        </p:nvSpPr>
        <p:spPr>
          <a:xfrm>
            <a:off x="9348563" y="487067"/>
            <a:ext cx="2811717" cy="6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130000"/>
              </a:lnSpc>
              <a:buClr>
                <a:schemeClr val="dk1"/>
              </a:buClr>
            </a:pP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A. 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통계 화면</a:t>
            </a:r>
            <a:endParaRPr lang="en-US" altLang="ko-KR" sz="10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171450">
              <a:lnSpc>
                <a:spcPct val="130000"/>
              </a:lnSpc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총 등록 </a:t>
            </a:r>
            <a:r>
              <a:rPr lang="ko-KR" altLang="en-US" sz="10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부품수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 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검사 결과 등 간단한 정보를 볼 수 있다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</a:p>
        </p:txBody>
      </p:sp>
      <p:sp>
        <p:nvSpPr>
          <p:cNvPr id="15" name="Google Shape;26;p3"/>
          <p:cNvSpPr txBox="1"/>
          <p:nvPr/>
        </p:nvSpPr>
        <p:spPr>
          <a:xfrm>
            <a:off x="9348563" y="65050"/>
            <a:ext cx="1220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상세 설명</a:t>
            </a:r>
            <a:endParaRPr sz="1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" name="Google Shape;21;p3"/>
          <p:cNvSpPr/>
          <p:nvPr/>
        </p:nvSpPr>
        <p:spPr>
          <a:xfrm>
            <a:off x="3108243" y="1279250"/>
            <a:ext cx="341700" cy="160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</a:t>
            </a:r>
            <a:endParaRPr sz="900" b="0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970230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605" y="1215604"/>
            <a:ext cx="9032097" cy="4730425"/>
          </a:xfrm>
          <a:prstGeom prst="rect">
            <a:avLst/>
          </a:prstGeom>
        </p:spPr>
      </p:pic>
      <p:sp>
        <p:nvSpPr>
          <p:cNvPr id="12" name="Google Shape;25;p3"/>
          <p:cNvSpPr txBox="1"/>
          <p:nvPr/>
        </p:nvSpPr>
        <p:spPr>
          <a:xfrm>
            <a:off x="100646" y="65050"/>
            <a:ext cx="1314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</a:t>
            </a:r>
            <a:endParaRPr sz="1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" name="Google Shape;20;p3"/>
          <p:cNvSpPr txBox="1"/>
          <p:nvPr/>
        </p:nvSpPr>
        <p:spPr>
          <a:xfrm>
            <a:off x="9348563" y="487067"/>
            <a:ext cx="2811717" cy="6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130000"/>
              </a:lnSpc>
              <a:buClr>
                <a:schemeClr val="dk1"/>
              </a:buClr>
            </a:pP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A. 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옵션 화면</a:t>
            </a:r>
            <a:endParaRPr lang="en-US" altLang="ko-KR" sz="10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171450">
              <a:lnSpc>
                <a:spcPct val="130000"/>
              </a:lnSpc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카메라 연결에 필요한 기본 정보들을 볼 수 있다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 (Test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 위한 기능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</a:p>
        </p:txBody>
      </p:sp>
      <p:sp>
        <p:nvSpPr>
          <p:cNvPr id="15" name="Google Shape;26;p3"/>
          <p:cNvSpPr txBox="1"/>
          <p:nvPr/>
        </p:nvSpPr>
        <p:spPr>
          <a:xfrm>
            <a:off x="9348563" y="65050"/>
            <a:ext cx="1220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상세 설명</a:t>
            </a:r>
            <a:endParaRPr sz="1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" name="Google Shape;21;p3"/>
          <p:cNvSpPr/>
          <p:nvPr/>
        </p:nvSpPr>
        <p:spPr>
          <a:xfrm>
            <a:off x="3760176" y="1490917"/>
            <a:ext cx="341700" cy="160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</a:t>
            </a:r>
            <a:endParaRPr sz="900" b="0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690456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506</Words>
  <Application>Microsoft Office PowerPoint</Application>
  <PresentationFormat>와이드스크린</PresentationFormat>
  <Paragraphs>82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oys</dc:creator>
  <cp:lastModifiedBy>user</cp:lastModifiedBy>
  <cp:revision>21</cp:revision>
  <dcterms:created xsi:type="dcterms:W3CDTF">2025-12-05T01:38:27Z</dcterms:created>
  <dcterms:modified xsi:type="dcterms:W3CDTF">2026-06-08T07:25:46Z</dcterms:modified>
</cp:coreProperties>
</file>